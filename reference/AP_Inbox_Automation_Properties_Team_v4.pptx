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E4E1-540E-48A4-B15F-15E1E923871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84437-349A-48A6-98CE-BC2018B35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84437-349A-48A6-98CE-BC2018B35E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5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5303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AP Inbox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5486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1">
                <a:solidFill>
                  <a:srgbClr val="F0DFA0"/>
                </a:solidFill>
                <a:latin typeface="Calibri"/>
              </a:rPr>
              <a:t>Eliminating manual invoice routing for Hillwood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5486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8892A4"/>
                </a:solidFill>
                <a:latin typeface="Calibri"/>
              </a:rPr>
              <a:t>April 2026  ·  Hillwood Properties  ·  AI &amp;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68680"/>
            <a:ext cx="2560320" cy="1051560"/>
          </a:xfrm>
          <a:prstGeom prst="rect">
            <a:avLst/>
          </a:prstGeom>
          <a:solidFill>
            <a:srgbClr val="162E5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2,500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9047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8892A4"/>
                </a:solidFill>
                <a:latin typeface="Calibri"/>
              </a:rPr>
              <a:t>Invoices/month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57400"/>
            <a:ext cx="2560320" cy="1051560"/>
          </a:xfrm>
          <a:prstGeom prst="rect">
            <a:avLst/>
          </a:prstGeom>
          <a:solidFill>
            <a:srgbClr val="162E5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6 PMs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7919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8892A4"/>
                </a:solidFill>
                <a:latin typeface="Calibri"/>
              </a:rPr>
              <a:t>Routing destinations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2560320" cy="1051560"/>
          </a:xfrm>
          <a:prstGeom prst="rect">
            <a:avLst/>
          </a:prstGeom>
          <a:solidFill>
            <a:srgbClr val="162E5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39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C9A84C"/>
                </a:solidFill>
                <a:latin typeface="Calibri"/>
              </a:rPr>
              <a:t>3–4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67911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8892A4"/>
                </a:solidFill>
                <a:latin typeface="Calibri"/>
              </a:rPr>
              <a:t>Saved 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736592"/>
            <a:ext cx="8321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023360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40233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Leslie's Manual Process — Every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389888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Open email, read sender and subject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71907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 dirty="0">
                <a:solidFill>
                  <a:srgbClr val="1A1A2E"/>
                </a:solidFill>
                <a:latin typeface="Calibri"/>
              </a:rPr>
              <a:t>Open attachment to identify invoice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048256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029967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 dirty="0">
                <a:solidFill>
                  <a:srgbClr val="1A1A2E"/>
                </a:solidFill>
                <a:latin typeface="Calibri"/>
              </a:rPr>
              <a:t>Look up building in routing spreadsheet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377440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359152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Determine destination: Medius, PM, or fund contact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706624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688336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Note subject line rules (Nuveen, Lex)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3035808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017520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Forward to correct address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336499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346704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Print multi-invoice PDFs, separate, scan 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3694176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675887"/>
            <a:ext cx="3520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Catch duplicate submissions from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46320" y="868680"/>
            <a:ext cx="4023360" cy="420624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868680"/>
            <a:ext cx="40233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1408176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8B5A00"/>
                </a:solidFill>
                <a:latin typeface="Calibri"/>
              </a:rPr>
              <a:t>Single point of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1627632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If Leslie is out, invoices queue up with no 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1975104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8B5A00"/>
                </a:solidFill>
                <a:latin typeface="Calibri"/>
              </a:rPr>
              <a:t>Silent misroutes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2194560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Wrong destination = invoice lost before anyone notices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2542032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8B5A00"/>
                </a:solidFill>
                <a:latin typeface="Calibri"/>
              </a:rPr>
              <a:t>Memory-based duplicates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2761488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Duplicates reach full approval before JDE catches 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3108960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250" b="1" i="0" dirty="0">
                <a:solidFill>
                  <a:srgbClr val="8B5A00"/>
                </a:solidFill>
                <a:latin typeface="Calibri"/>
              </a:rPr>
              <a:t>Limited</a:t>
            </a:r>
            <a:r>
              <a:rPr sz="1250" b="1" i="0" dirty="0">
                <a:solidFill>
                  <a:srgbClr val="8B5A00"/>
                </a:solidFill>
                <a:latin typeface="Calibri"/>
              </a:rPr>
              <a:t>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328415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No record of what was routed, when, or why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3675887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8B5A00"/>
                </a:solidFill>
                <a:latin typeface="Calibri"/>
              </a:rPr>
              <a:t>Scales poorly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3895344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Volume growing; manual effort grows with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21792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Invoice Routing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0"/>
            <a:ext cx="24688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F0DFA0"/>
                </a:solidFill>
                <a:latin typeface="Calibri"/>
              </a:rPr>
              <a:t>Based on Leslie's routing spreadsheet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dirty="0"/>
              <a:t>Every invoice routes to one of two destinations: Internal Medius AAS (Hillwood-owned) or External PM (investor-managed).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4206240" cy="3493008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420624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3474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Internal Medius 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347472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92A4"/>
                </a:solidFill>
              </a:rPr>
              <a:t>Hillwood-owned buildings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44568"/>
            <a:ext cx="4023360" cy="201168"/>
          </a:xfrm>
          <a:prstGeom prst="rect">
            <a:avLst/>
          </a:prstGeom>
          <a:solidFill>
            <a:srgbClr val="E8F4F6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4544568"/>
            <a:ext cx="395020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1A1A2E"/>
                </a:solidFill>
                <a:latin typeface="Calibri"/>
              </a:rPr>
              <a:t>Default destination for Hillwood-owned properties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298448"/>
            <a:ext cx="2743200" cy="3493008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63440" y="1298448"/>
            <a:ext cx="2743200" cy="512064"/>
          </a:xfrm>
          <a:prstGeom prst="rect">
            <a:avLst/>
          </a:prstGeom>
          <a:solidFill>
            <a:srgbClr val="0A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20640" y="1298448"/>
            <a:ext cx="2103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/>
              <a:t>External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1572768"/>
            <a:ext cx="210312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/>
              <a:t>Investor-managed properties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190195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</a:rPr>
              <a:t>Tiffany Beck — Nuveen</a:t>
            </a:r>
          </a:p>
          <a:p>
            <a:r>
              <a:rPr sz="800" b="0">
                <a:solidFill>
                  <a:srgbClr val="1A7A4A"/>
                </a:solidFill>
              </a:rPr>
              <a:t>Tiffany.Beck@Hillwood.com</a:t>
            </a:r>
          </a:p>
          <a:p>
            <a:r>
              <a:rPr sz="700" b="0">
                <a:solidFill>
                  <a:srgbClr val="555555"/>
                </a:solidFill>
              </a:rPr>
              <a:t>ACC1–4, GW9, GW15, GW22–23, GW27,</a:t>
            </a:r>
          </a:p>
          <a:p>
            <a:r>
              <a:rPr sz="700" b="0">
                <a:solidFill>
                  <a:srgbClr val="555555"/>
                </a:solidFill>
              </a:rPr>
              <a:t>GW49, GW52, GW58, GW62, WP1, WP4, WP20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2779776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</a:rPr>
              <a:t>Michele Fellers</a:t>
            </a:r>
          </a:p>
          <a:p>
            <a:r>
              <a:rPr sz="800" b="0">
                <a:solidFill>
                  <a:srgbClr val="1A7A4A"/>
                </a:solidFill>
              </a:rPr>
              <a:t>Michele.Fellers@Hillwood.com</a:t>
            </a:r>
          </a:p>
          <a:p>
            <a:r>
              <a:rPr sz="700" b="0">
                <a:solidFill>
                  <a:srgbClr val="555555"/>
                </a:solidFill>
              </a:rPr>
              <a:t>GW1–2, GW11, GW14, GW17–18, GW20–21,</a:t>
            </a:r>
          </a:p>
          <a:p>
            <a:r>
              <a:rPr sz="700" b="0">
                <a:solidFill>
                  <a:srgbClr val="555555"/>
                </a:solidFill>
              </a:rPr>
              <a:t>GW26, GW31, GW50–55, GW60, HC2, HCX,</a:t>
            </a:r>
          </a:p>
          <a:p>
            <a:r>
              <a:rPr sz="700" b="0">
                <a:solidFill>
                  <a:srgbClr val="555555"/>
                </a:solidFill>
              </a:rPr>
              <a:t>TBN, WP3, WP6, WP19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365760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</a:rPr>
              <a:t>Pattie McClean — Lex/NP</a:t>
            </a:r>
          </a:p>
          <a:p>
            <a:r>
              <a:rPr sz="800" b="0">
                <a:solidFill>
                  <a:srgbClr val="1A7A4A"/>
                </a:solidFill>
              </a:rPr>
              <a:t>pattie.mcclean@hillwood.com</a:t>
            </a:r>
          </a:p>
          <a:p>
            <a:r>
              <a:rPr sz="700" b="0">
                <a:solidFill>
                  <a:srgbClr val="555555"/>
                </a:solidFill>
              </a:rPr>
              <a:t>Lex (2 locations), NP1, NP2, NP3, NP4, NP5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192024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1A7A4A"/>
                </a:solidFill>
                <a:latin typeface="Calibri"/>
              </a:rPr>
              <a:t>medius.prop@hillwood.com</a:t>
            </a:r>
          </a:p>
          <a:p>
            <a:r>
              <a:rPr sz="900" b="0" dirty="0">
                <a:solidFill>
                  <a:srgbClr val="444444"/>
                </a:solidFill>
                <a:latin typeface="Calibri"/>
              </a:rPr>
              <a:t>Default for all Hillwood-owned properties</a:t>
            </a:r>
          </a:p>
          <a:p>
            <a:endParaRPr sz="900" b="0" dirty="0">
              <a:solidFill>
                <a:srgbClr val="444444"/>
              </a:solidFill>
              <a:latin typeface="Calibri"/>
            </a:endParaRPr>
          </a:p>
          <a:p>
            <a:r>
              <a:rPr sz="900" b="0" dirty="0">
                <a:solidFill>
                  <a:srgbClr val="666666"/>
                </a:solidFill>
                <a:latin typeface="Calibri"/>
              </a:rPr>
              <a:t>Vendors matched by street address or building</a:t>
            </a:r>
          </a:p>
          <a:p>
            <a:r>
              <a:rPr sz="900" b="0" dirty="0">
                <a:solidFill>
                  <a:srgbClr val="666666"/>
                </a:solidFill>
                <a:latin typeface="Calibri"/>
              </a:rPr>
              <a:t>code from routing table</a:t>
            </a:r>
          </a:p>
          <a:p>
            <a:endParaRPr sz="900" b="0" dirty="0">
              <a:solidFill>
                <a:srgbClr val="666666"/>
              </a:solidFill>
              <a:latin typeface="Calibri"/>
            </a:endParaRPr>
          </a:p>
          <a:p>
            <a:r>
              <a:rPr sz="900" b="1" dirty="0">
                <a:solidFill>
                  <a:srgbClr val="444444"/>
                </a:solidFill>
                <a:latin typeface="Calibri"/>
              </a:rPr>
              <a:t>Also routes:</a:t>
            </a:r>
          </a:p>
          <a:p>
            <a:r>
              <a:rPr sz="900" b="0" dirty="0">
                <a:solidFill>
                  <a:srgbClr val="444444"/>
                </a:solidFill>
                <a:latin typeface="Calibri"/>
              </a:rPr>
              <a:t>Medius.MF@hillwood.com  —  Multifamily</a:t>
            </a:r>
          </a:p>
          <a:p>
            <a:r>
              <a:rPr sz="900" b="0" dirty="0">
                <a:solidFill>
                  <a:srgbClr val="444444"/>
                </a:solidFill>
                <a:latin typeface="Calibri"/>
              </a:rPr>
              <a:t>Medius.ALC@hillwood.com  —  ALC (bill-to based)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Solution: An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1">
                <a:solidFill>
                  <a:srgbClr val="1A1A2E"/>
                </a:solidFill>
                <a:latin typeface="Calibri"/>
              </a:rPr>
              <a:t>A Claude AI agent reads every email as it arrives, applies the full routing logic, and acts — forwarding clean invoices automatically and escalating edge cases with a pre-filled explanation.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389888"/>
            <a:ext cx="1463040" cy="239572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984248"/>
            <a:ext cx="135331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Email arrives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0591"/>
            <a:ext cx="106070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" y="2542032"/>
            <a:ext cx="13533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PropertiesAP
@hillwood.com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5648" y="2560320"/>
            <a:ext cx="201167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93392" y="1389888"/>
            <a:ext cx="1463040" cy="239572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48256" y="1984248"/>
            <a:ext cx="135331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Agent 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450591"/>
            <a:ext cx="106070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8256" y="2542032"/>
            <a:ext cx="13533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Sender, subject,
attachments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2560320"/>
            <a:ext cx="201167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30752" y="1389888"/>
            <a:ext cx="1463040" cy="239572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85615" y="1984248"/>
            <a:ext cx="135331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Agent matches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450591"/>
            <a:ext cx="106070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5615" y="2542032"/>
            <a:ext cx="13533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Building →
routing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0368" y="2560320"/>
            <a:ext cx="201167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68112" y="1389888"/>
            <a:ext cx="1463040" cy="2395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22976" y="1984248"/>
            <a:ext cx="135331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Auto-forwarded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450591"/>
            <a:ext cx="106070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22976" y="2542032"/>
            <a:ext cx="13533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Medius, PM
or fund contact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67728" y="2560320"/>
            <a:ext cx="201167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05472" y="1389888"/>
            <a:ext cx="1463040" cy="2395728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0336" y="1984248"/>
            <a:ext cx="135331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Escalated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450591"/>
            <a:ext cx="106070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0336" y="2542032"/>
            <a:ext cx="13533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With clear
explanation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13632"/>
            <a:ext cx="8412480" cy="658368"/>
          </a:xfrm>
          <a:prstGeom prst="rect">
            <a:avLst/>
          </a:prstGeom>
          <a:solidFill>
            <a:srgbClr val="F4F6F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80467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1">
                <a:solidFill>
                  <a:srgbClr val="1A1A2E"/>
                </a:solidFill>
                <a:latin typeface="Calibri"/>
              </a:rPr>
              <a:t>Every email gets a decision record — vendor, building, routing destination, confidence score, and reason — written to a permanent audit log. Nothing is silently lost.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Every Email Type Is Handled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25746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692658"/>
            <a:ext cx="8595360" cy="260603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692658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Email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692658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2944" y="692658"/>
            <a:ext cx="11887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3262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953262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 dirty="0">
                <a:solidFill>
                  <a:srgbClr val="1A1A2E"/>
                </a:solidFill>
                <a:latin typeface="Calibri"/>
              </a:rPr>
              <a:t>Clean invoice — Hillwood-owned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953262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 dirty="0">
                <a:solidFill>
                  <a:srgbClr val="1A1A2E"/>
                </a:solidFill>
                <a:latin typeface="Calibri"/>
              </a:rPr>
              <a:t>Auto-forward to Medius intake address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2944" y="989838"/>
            <a:ext cx="1234440" cy="187451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52944" y="989838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13866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1213866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Clean invoice — external PM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213866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dirty="0">
                <a:latin typeface="Calibri"/>
              </a:rPr>
              <a:t>Forward to Tiffany Beck, Michele Fellers, or Pattie McClean per routing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250442"/>
            <a:ext cx="1234440" cy="187451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1250442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465326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1465326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Internal forward from Hillwood associate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1465326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Identify building, auto-forward correctly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2944" y="1501902"/>
            <a:ext cx="1234440" cy="187451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52944" y="1501902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725930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1725930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Wrong division invoice (ALC/Multifamily)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1725930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Check Bill To field — route to Medius.ALC or Medius.MF accordingly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2944" y="1762506"/>
            <a:ext cx="1234440" cy="187451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52944" y="1762506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86534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1986534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ACH / auto-draft / Ben E Keith payment notices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1986534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File to ACH subfolder or Ben E Keith folder — not Medius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52944" y="2023110"/>
            <a:ext cx="1234440" cy="187451"/>
          </a:xfrm>
          <a:prstGeom prst="rect">
            <a:avLst/>
          </a:prstGeom>
          <a:solidFill>
            <a:srgbClr val="1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52944" y="2023110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247137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7472" y="2247137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Multi-invoice PDF (pest control batches)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2247137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requires manual split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2944" y="2283714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52944" y="2283714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507742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2507742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Invoice + lien waiver (2 PDFs to merge)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2507742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requires manual merge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52944" y="2544318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52944" y="2544318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768346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2768346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 dirty="0">
                <a:solidFill>
                  <a:srgbClr val="1A1A2E"/>
                </a:solidFill>
                <a:latin typeface="Calibri"/>
              </a:rPr>
              <a:t>Invoice via link only (no attachment)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5968" y="2768346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agent cannot download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52944" y="2804922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52944" y="2804922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028950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3028950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Contract / pay application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5968" y="3028950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always human (10–15/month)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52944" y="3065526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52944" y="3065526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289554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7472" y="3289554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Invoice over $10,000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5968" y="3289554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File to Lien Release folder — hold for lien release from Tiffany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52944" y="3326130"/>
            <a:ext cx="1234440" cy="187451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52944" y="3326130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550158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7472" y="3550158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Suspected duplicate submission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5968" y="3550158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audit log match found, verify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52944" y="3586734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52944" y="3586734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3810762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7472" y="3810762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latin typeface="Calibri"/>
              </a:rPr>
              <a:t>Vendor question / payment inquiry / past due notice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5968" y="3810762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dirty="0">
                <a:latin typeface="Calibri"/>
              </a:rPr>
              <a:t>Escalate — research Medius status; escalate same day for past due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52944" y="3847338"/>
            <a:ext cx="1234440" cy="187451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52944" y="3847338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071366"/>
            <a:ext cx="8595360" cy="260603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" y="4071366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Statement / account summary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15968" y="4071366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/>
              <a:t>File to Review Statement subfolder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52944" y="4107942"/>
            <a:ext cx="1234440" cy="187451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552944" y="4107942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DISCARD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331969"/>
            <a:ext cx="8595360" cy="260603"/>
          </a:xfrm>
          <a:prstGeom prst="rect">
            <a:avLst/>
          </a:prstGeom>
          <a:solidFill>
            <a:srgbClr val="F4F6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47472" y="4331969"/>
            <a:ext cx="393192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Invoice for a SOLD property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15968" y="4331969"/>
            <a:ext cx="32004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Escalate — misdirected from former tenant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52944" y="4368545"/>
            <a:ext cx="1234440" cy="1874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52944" y="4368545"/>
            <a:ext cx="1234440" cy="1874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Always Stays with Leslie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1">
                <a:solidFill>
                  <a:srgbClr val="1A1A2E"/>
                </a:solidFill>
                <a:latin typeface="Calibri"/>
              </a:rPr>
              <a:t>The agent escalates anything requiring judgment — each with a pre-filled explanation. Leslie handles only the cases that genuinely need a human decision. Suspected duplicates are flagged before they reach Medius.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35024"/>
            <a:ext cx="84124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350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362456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Multi-invoice PDF batches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 dirty="0">
                <a:solidFill>
                  <a:srgbClr val="8892A4"/>
                </a:solidFill>
                <a:latin typeface="Calibri"/>
              </a:rPr>
              <a:t>Agent flags, Leslie prints/separates/scans. </a:t>
            </a:r>
            <a:r>
              <a:rPr sz="1100" b="1" i="0" dirty="0">
                <a:solidFill>
                  <a:srgbClr val="8892A4"/>
                </a:solidFill>
                <a:latin typeface="Calibri"/>
              </a:rPr>
              <a:t>Phase 2 automates </a:t>
            </a:r>
            <a:r>
              <a:rPr sz="1100" b="0" i="0" dirty="0">
                <a:solidFill>
                  <a:srgbClr val="8892A4"/>
                </a:solidFill>
                <a:latin typeface="Calibri"/>
              </a:rPr>
              <a:t>this completely.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0652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9065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933955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Contracts &amp; pay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534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~10–15/month. Always human — too high-stakes for auto-routing.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78024"/>
            <a:ext cx="84124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4780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505456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Invoices over $10,000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7249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High-dollar threshold triggers review. Agent pre-extracts the amount.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4952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0495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076956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Vendor questions &amp; inquiries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2964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Anything requiring a response or research. Agent labels it clearly.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21024"/>
            <a:ext cx="84124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6210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648456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Suspected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8679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Agent queries audit log before every forward. Flags matches with original date and destination.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9252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192524"/>
            <a:ext cx="16459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219956"/>
            <a:ext cx="80924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Low-confidence / unmatched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439412"/>
            <a:ext cx="80924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Agent isn't 90%+ confident, or building not in routing table — escalates with reason.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Changes for Leslie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977639" cy="3913632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3977639" cy="420624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3977639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1389888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89888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Check inbox multiple times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810512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Read and classify every email manually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231136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31136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Consult routing spreadsheet per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651760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Forward each invoice to correct destination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072384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72384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Note subject line rules (Nuveen, Lex)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493008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Print / separate / scan PDF batches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3913632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Catch duplicates from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868680"/>
            <a:ext cx="3977639" cy="3913632"/>
          </a:xfrm>
          <a:prstGeom prst="rect">
            <a:avLst/>
          </a:prstGeom>
          <a:solidFill>
            <a:srgbClr val="E6F4ED"/>
          </a:solidFill>
          <a:ln w="6350">
            <a:solidFill>
              <a:srgbClr val="B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92040" y="868680"/>
            <a:ext cx="3977639" cy="42062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868680"/>
            <a:ext cx="3977639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1389888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1389888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Review only the exception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1810512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1810512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Each item has a pre-filled 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2231136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2231136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Teams alert the moment review is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2651760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8384" y="2651760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Handle ~30% that need genuine judgment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072384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384" y="3072384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Special routing rules encoded in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493008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8384" y="3493008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Zero routine forwarding or printing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913632"/>
            <a:ext cx="256032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8384" y="3913632"/>
            <a:ext cx="33832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Audit log — no memory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Timeline to Go-Live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578608"/>
            <a:ext cx="8229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1572768" cy="1463040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57276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1572768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Quickbase audit
PM email confirm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423160"/>
            <a:ext cx="347472" cy="347472"/>
          </a:xfrm>
          <a:prstGeom prst="ellipse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2880360"/>
            <a:ext cx="914400" cy="292608"/>
          </a:xfrm>
          <a:prstGeom prst="rect">
            <a:avLst/>
          </a:prstGeom>
          <a:solidFill>
            <a:srgbClr val="8B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88036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1408" y="859536"/>
            <a:ext cx="1572768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21408" y="1097280"/>
            <a:ext cx="157276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Core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1444752"/>
            <a:ext cx="1572768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Agent, tools,
Graph API, system prompt</a:t>
            </a:r>
          </a:p>
        </p:txBody>
      </p:sp>
      <p:sp>
        <p:nvSpPr>
          <p:cNvPr id="17" name="Oval 16"/>
          <p:cNvSpPr/>
          <p:nvPr/>
        </p:nvSpPr>
        <p:spPr>
          <a:xfrm>
            <a:off x="2688336" y="2423160"/>
            <a:ext cx="347472" cy="347472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50592" y="2880360"/>
            <a:ext cx="914400" cy="29260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0592" y="288036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5616" y="859536"/>
            <a:ext cx="1572768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85616" y="1097280"/>
            <a:ext cx="157276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Exception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5616" y="1444752"/>
            <a:ext cx="1572768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Review subfolder
Teams notifications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4352544" y="2423160"/>
            <a:ext cx="347472" cy="347472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0" y="2880360"/>
            <a:ext cx="914400" cy="29260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288036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9824" y="859536"/>
            <a:ext cx="1572768" cy="1463040"/>
          </a:xfrm>
          <a:prstGeom prst="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9824" y="1097280"/>
            <a:ext cx="157276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1444752"/>
            <a:ext cx="1572768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Historical email tests
Parallel run</a:t>
            </a:r>
          </a:p>
        </p:txBody>
      </p:sp>
      <p:sp>
        <p:nvSpPr>
          <p:cNvPr id="31" name="Oval 30"/>
          <p:cNvSpPr/>
          <p:nvPr/>
        </p:nvSpPr>
        <p:spPr>
          <a:xfrm>
            <a:off x="6016752" y="2423160"/>
            <a:ext cx="347472" cy="347472"/>
          </a:xfrm>
          <a:prstGeom prst="ellipse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79008" y="2880360"/>
            <a:ext cx="914400" cy="292608"/>
          </a:xfrm>
          <a:prstGeom prst="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288036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14032" y="859536"/>
            <a:ext cx="1572768" cy="1463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14032" y="1097280"/>
            <a:ext cx="157276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1444752"/>
            <a:ext cx="1572768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0" i="0">
                <a:solidFill>
                  <a:srgbClr val="F0DFA0"/>
                </a:solidFill>
                <a:latin typeface="Calibri"/>
              </a:rPr>
              <a:t>Phased at 0.92
confidence</a:t>
            </a:r>
          </a:p>
        </p:txBody>
      </p:sp>
      <p:sp>
        <p:nvSpPr>
          <p:cNvPr id="38" name="Oval 37"/>
          <p:cNvSpPr/>
          <p:nvPr/>
        </p:nvSpPr>
        <p:spPr>
          <a:xfrm>
            <a:off x="7680960" y="2423160"/>
            <a:ext cx="347472" cy="347472"/>
          </a:xfrm>
          <a:prstGeom prst="ellipse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43216" y="2880360"/>
            <a:ext cx="914400" cy="2926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43216" y="288036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E6F4ED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355848"/>
            <a:ext cx="80467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1A7A4A"/>
                </a:solidFill>
                <a:latin typeface="Calibri"/>
              </a:rPr>
              <a:t>✓  Target: 70%+ automation rate within 4 weeks of go-live  ·  Leslie spot-checks daily  ·  Weekly metrics to </a:t>
            </a:r>
            <a:r>
              <a:rPr lang="en-US" sz="1300" b="1" dirty="0">
                <a:solidFill>
                  <a:srgbClr val="1A7A4A"/>
                </a:solidFill>
                <a:latin typeface="Calibri"/>
              </a:rPr>
              <a:t>Katie Shotts</a:t>
            </a:r>
            <a:endParaRPr sz="1300" b="1" i="0" dirty="0">
              <a:solidFill>
                <a:srgbClr val="1A7A4A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5760" y="4114800"/>
            <a:ext cx="8412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1">
                <a:solidFill>
                  <a:srgbClr val="8892A4"/>
                </a:solidFill>
                <a:latin typeface="Calibri"/>
              </a:rPr>
              <a:t>Phase 2 (next): PDF splitting &amp; merging, read_pdf for batch detection     Phase 3: ALC &amp; Multifamily inboxes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We Need from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1">
                <a:solidFill>
                  <a:srgbClr val="1A1A2E"/>
                </a:solidFill>
                <a:latin typeface="Calibri"/>
              </a:rPr>
              <a:t>Two data tasks are required before the build begins. Neither requires engineering. Both are the critical path to go-live.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16736"/>
            <a:ext cx="4023360" cy="34747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16736"/>
            <a:ext cx="4023360" cy="457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4023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P1 — Quickbase Routing Table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83664"/>
            <a:ext cx="71323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1" i="0">
                <a:solidFill>
                  <a:srgbClr val="0D1F3C"/>
                </a:solidFill>
                <a:latin typeface="Calibri"/>
              </a:rPr>
              <a:t>Owner: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83664"/>
            <a:ext cx="29443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Leslie + Brad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560320"/>
            <a:ext cx="71323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1" i="0">
                <a:solidFill>
                  <a:srgbClr val="0D1F3C"/>
                </a:solidFill>
                <a:latin typeface="Calibri"/>
              </a:rPr>
              <a:t>What: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60320"/>
            <a:ext cx="29443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Every active building needs: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98648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 dirty="0">
                <a:solidFill>
                  <a:srgbClr val="1A1A2E"/>
                </a:solidFill>
                <a:latin typeface="Calibri"/>
              </a:rPr>
              <a:t>· Building name (all vendor aliases)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36976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· Hillwood-owned vs. 3rd-party managed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75304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· Destination: Medius, PM, or fund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13631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· Any special subject line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251960"/>
            <a:ext cx="71323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1" i="0">
                <a:solidFill>
                  <a:srgbClr val="0D1F3C"/>
                </a:solidFill>
                <a:latin typeface="Calibri"/>
              </a:rPr>
              <a:t>Gate: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29443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b="0" dirty="0"/>
              <a:t>100% complete — all buildings confirmed, build begins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316736"/>
            <a:ext cx="4023360" cy="3474720"/>
          </a:xfrm>
          <a:prstGeom prst="rect">
            <a:avLst/>
          </a:prstGeom>
          <a:solidFill>
            <a:srgbClr val="F4F6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0" y="1316736"/>
            <a:ext cx="4023360" cy="457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1316736"/>
            <a:ext cx="4023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/>
              <a:t>P2 — PM &amp; Address Confirmation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1883664"/>
            <a:ext cx="71323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1" i="0">
                <a:solidFill>
                  <a:srgbClr val="0D1F3C"/>
                </a:solidFill>
                <a:latin typeface="Calibri"/>
              </a:rPr>
              <a:t>Owner: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883664"/>
            <a:ext cx="29443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Brad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2560320"/>
            <a:ext cx="3703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dirty="0"/>
              <a:t>Confirm email addresses for all 6 PMs: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898648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/>
              <a:t>· Tiffany.Beck@Hillwood.com (Nuveen)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236976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/>
              <a:t>· Michele.Fellers@Hillwood.com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3575304"/>
            <a:ext cx="3703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/>
              <a:t>· pattie.mcclean@hillwood.com (Lex/NP)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13631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/>
              <a:t>Confirm Medius intake addresses: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4251960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/>
              <a:t>· Properties: medius.prop@hillwood.com ✓
· Multifamily: Medius.MF@hillwood.com ✓
· ALC: Medius.ALC@hillwood.com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This Means for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475488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47548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D1F3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25296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Routine work disappears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Clean invoices route automatically — no reading, no lookups, no forwarding, no printing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48256"/>
            <a:ext cx="475488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47548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D1F3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66544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All routing logic is encoded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22576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The 6 PMs, 3 Medius addresses, fund contacts, subject line rules — all in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89504"/>
            <a:ext cx="475488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889504"/>
            <a:ext cx="47548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D1F3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2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Nothing gets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63824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Every email has a decision record. Duplicates caught before Medius. Full audit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30752"/>
            <a:ext cx="475488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730752"/>
            <a:ext cx="47548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D1F3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39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Scales without hiring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Volume can grow without the manual workload growing with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8321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50" b="0" i="1">
                <a:solidFill>
                  <a:srgbClr val="8892A4"/>
                </a:solidFill>
                <a:latin typeface="Calibri"/>
              </a:rPr>
              <a:t>Next step: complete P1 routing table audit with Leslie  ·  Build begins immediately 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1300</Words>
  <Application>Microsoft Office PowerPoint</Application>
  <PresentationFormat>On-screen Show (16:9)</PresentationFormat>
  <Paragraphs>218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DeLong, Brad</dc:creator>
  <cp:keywords/>
  <dc:description>generated using python-pptx</dc:description>
  <cp:lastModifiedBy>Williams, Jeremy</cp:lastModifiedBy>
  <cp:revision>3</cp:revision>
  <dcterms:created xsi:type="dcterms:W3CDTF">2013-01-27T09:14:16Z</dcterms:created>
  <dcterms:modified xsi:type="dcterms:W3CDTF">2026-05-07T17:33:13Z</dcterms:modified>
  <cp:category/>
</cp:coreProperties>
</file>